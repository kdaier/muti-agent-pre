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498079" cy="685800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54864" cy="6858000"/>
          </a:xfrm>
          <a:prstGeom prst="rect">
            <a:avLst/>
          </a:prstGeom>
          <a:solidFill>
            <a:srgbClr val="027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52944" y="0"/>
            <a:ext cx="4638751" cy="685800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E0C4"/>
                </a:solidFill>
                <a:latin typeface="Microsoft YaHei"/>
              </a:rPr>
              <a:t>计算机学院  AI/Agent 课程小组报告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Microsoft YaHei"/>
              </a:rPr>
              <a:t>LLM 多智能体辩论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4884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8E0C4"/>
                </a:solidFill>
                <a:latin typeface="Microsoft YaHei"/>
              </a:rPr>
              <a:t>Multi-Agent Debate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EDB"/>
                </a:solidFill>
                <a:latin typeface="Microsoft YaHei"/>
              </a:rPr>
              <a:t>提升推理能力与事实性：复现、对比与改进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401568"/>
            <a:ext cx="6217920" cy="36576"/>
          </a:xfrm>
          <a:prstGeom prst="rect">
            <a:avLst/>
          </a:prstGeom>
          <a:solidFill>
            <a:srgbClr val="4A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52958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E0C4"/>
                </a:solidFill>
                <a:latin typeface="Microsoft YaHei"/>
              </a:rPr>
              <a:t>模型：Qwen3.8-27B（自部署 vLLM）  |  数据集：GSM8K · MATH · MMLU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4A"/>
                </a:solidFill>
                <a:latin typeface="Microsoft YaHei"/>
              </a:rPr>
              <a:t>小组成员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2860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Microsoft YaHei"/>
              </a:rPr>
              <a:t>A · B · C · D · E（5 人）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926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4A"/>
                </a:solidFill>
                <a:latin typeface="Microsoft YaHei"/>
              </a:rPr>
              <a:t>指导老师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200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840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4A"/>
                </a:solidFill>
                <a:latin typeface="Microsoft YaHei"/>
              </a:rPr>
              <a:t>汇报日期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41148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Microsoft YaHei"/>
              </a:rPr>
              <a:t>2026 年 10 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LLM 多智能体辩论  | 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36815" y="64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Microsoft YaHei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54864" cy="6062472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14723"/>
                </a:solidFill>
                <a:latin typeface="Microsoft YaHei"/>
              </a:rPr>
              <a:t>C O N T E N T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789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4A"/>
                </a:solidFill>
                <a:latin typeface="Microsoft YaHei"/>
              </a:rPr>
              <a:t>目  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566928" cy="56692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572768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60934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Microsoft YaHei"/>
              </a:rPr>
              <a:t>背景与动机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920240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4A"/>
                </a:solidFill>
                <a:latin typeface="Microsoft YaHei"/>
              </a:rPr>
              <a:t>单模型的局限  ·  辩论的直觉  ·  本实验目标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67128"/>
            <a:ext cx="11612880" cy="13716"/>
          </a:xfrm>
          <a:prstGeom prst="rect">
            <a:avLst/>
          </a:prstGeom>
          <a:solidFill>
            <a:srgbClr val="CC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468880"/>
            <a:ext cx="566928" cy="56692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4688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50545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Microsoft YaHei"/>
              </a:rPr>
              <a:t>方法综述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816352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4A"/>
                </a:solidFill>
                <a:latin typeface="Microsoft YaHei"/>
              </a:rPr>
              <a:t>Single / CoT / SC / 原版辩论框架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063240"/>
            <a:ext cx="11612880" cy="13716"/>
          </a:xfrm>
          <a:prstGeom prst="rect">
            <a:avLst/>
          </a:prstGeom>
          <a:solidFill>
            <a:srgbClr val="CC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364991"/>
            <a:ext cx="566928" cy="56692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364991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401567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Microsoft YaHei"/>
              </a:rPr>
              <a:t>模型与方法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712463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4A"/>
                </a:solidFill>
                <a:latin typeface="Microsoft YaHei"/>
              </a:rPr>
              <a:t>辩论机制详解  ·  四项改进  ·  实验设置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959351"/>
            <a:ext cx="11612880" cy="13716"/>
          </a:xfrm>
          <a:prstGeom prst="rect">
            <a:avLst/>
          </a:prstGeom>
          <a:solidFill>
            <a:srgbClr val="CC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261104"/>
            <a:ext cx="566928" cy="56692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261104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429768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Microsoft YaHei"/>
              </a:rPr>
              <a:t>实验结果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4608576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4A"/>
                </a:solidFill>
                <a:latin typeface="Microsoft YaHei"/>
              </a:rPr>
              <a:t>截断偏差发现  ·  GSM8K / MATH / MMLU  ·  成本分析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855464"/>
            <a:ext cx="11612880" cy="13716"/>
          </a:xfrm>
          <a:prstGeom prst="rect">
            <a:avLst/>
          </a:prstGeom>
          <a:solidFill>
            <a:srgbClr val="CC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157216"/>
            <a:ext cx="566928" cy="56692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157216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519379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Microsoft YaHei"/>
              </a:rPr>
              <a:t>结论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550468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4A"/>
                </a:solidFill>
                <a:latin typeface="Microsoft YaHei"/>
              </a:rPr>
              <a:t>主要发现  ·  局限  ·  未来方向  ·  分工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751576"/>
            <a:ext cx="11612880" cy="13716"/>
          </a:xfrm>
          <a:prstGeom prst="rect">
            <a:avLst/>
          </a:prstGeom>
          <a:solidFill>
            <a:srgbClr val="CC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27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E0C4"/>
                </a:solidFill>
                <a:latin typeface="Microsoft YaHei"/>
              </a:rPr>
              <a:t>Part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YaHei"/>
              </a:rPr>
              <a:t>背景与动机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E0C4"/>
                </a:solidFill>
                <a:latin typeface="Microsoft YaHei"/>
              </a:rPr>
              <a:t>Background &amp; Motivation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LLM 多智能体辩论  | 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36815" y="64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Microsoft YaHei"/>
              </a:rPr>
              <a:t>01  背景与动机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03504"/>
            <a:ext cx="64008" cy="493776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85216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14723"/>
                </a:solidFill>
                <a:latin typeface="Microsoft YaHei"/>
              </a:rPr>
              <a:t>1.1  单模型推理的主要失败模式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623560" cy="329184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62456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推理失误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55064"/>
            <a:ext cx="5623560" cy="1453896"/>
          </a:xfrm>
          <a:prstGeom prst="rect">
            <a:avLst/>
          </a:prstGeom>
          <a:solidFill>
            <a:srgbClr val="E8F4EC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728216"/>
            <a:ext cx="5404104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复杂数学题上的计算错误和逻辑跳步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一旦第一步走错，后续会在错误方向自我强化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7" y="1325880"/>
            <a:ext cx="5623560" cy="329184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7" y="1362456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幻觉问题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7" y="1655064"/>
            <a:ext cx="5623560" cy="1453896"/>
          </a:xfrm>
          <a:prstGeom prst="rect">
            <a:avLst/>
          </a:prstGeom>
          <a:solidFill>
            <a:srgbClr val="E8F4EC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5" y="1728216"/>
            <a:ext cx="5404104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知识类问题倾向于编造细节而非承认未知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无法判断自身置信度的边界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91839"/>
            <a:ext cx="5623560" cy="329184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328415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确认偏差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21023"/>
            <a:ext cx="5623560" cy="1453896"/>
          </a:xfrm>
          <a:prstGeom prst="rect">
            <a:avLst/>
          </a:prstGeom>
          <a:solidFill>
            <a:srgbClr val="E8F4EC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694175"/>
            <a:ext cx="5404104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采样多次时仍偏向相似的错误解题路径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缺乏外部视角来打破已有思路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7" y="3291839"/>
            <a:ext cx="5623560" cy="329184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7" y="3328415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知识盲区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7" y="3621023"/>
            <a:ext cx="5623560" cy="1453896"/>
          </a:xfrm>
          <a:prstGeom prst="rect">
            <a:avLst/>
          </a:prstGeom>
          <a:solidFill>
            <a:srgbClr val="E8F4EC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5" y="3694175"/>
            <a:ext cx="5404104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专业领域、长尾事实超出单次采样覆盖范围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三个 Agent 知识同质，讨论无法凭空创造知识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3492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4723"/>
                </a:solidFill>
                <a:latin typeface="Microsoft YaHei"/>
              </a:rPr>
              <a:t>直觉：让多个模型各自独立作答，互相看到对方答案后讨论修正，能否像集体讨论一样提升准确率？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LLM 多智能体辩论  | 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36815" y="64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Microsoft YaHei"/>
              </a:rPr>
              <a:t>01  背景与动机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03504"/>
            <a:ext cx="64008" cy="493776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85216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14723"/>
                </a:solidFill>
                <a:latin typeface="Microsoft YaHei"/>
              </a:rPr>
              <a:t>1.2  多智能体辩论的核心流程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3383280" cy="38404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Round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3898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E0C4"/>
                </a:solidFill>
                <a:latin typeface="Microsoft YaHei"/>
              </a:rPr>
              <a:t>第1轮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3163824" cy="685800"/>
          </a:xfrm>
          <a:prstGeom prst="rect">
            <a:avLst/>
          </a:prstGeom>
          <a:solidFill>
            <a:srgbClr val="E8F4EC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947671"/>
            <a:ext cx="2980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YaHei"/>
              </a:rPr>
              <a:t>Agent 1  各自独立作答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97479"/>
            <a:ext cx="3163824" cy="685800"/>
          </a:xfrm>
          <a:prstGeom prst="rect">
            <a:avLst/>
          </a:prstGeom>
          <a:solidFill>
            <a:srgbClr val="E8F4EC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770631"/>
            <a:ext cx="2980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YaHei"/>
              </a:rPr>
              <a:t>Agent 2  各自独立作答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520439"/>
            <a:ext cx="3163824" cy="685800"/>
          </a:xfrm>
          <a:prstGeom prst="rect">
            <a:avLst/>
          </a:prstGeom>
          <a:solidFill>
            <a:srgbClr val="E8F4EC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593591"/>
            <a:ext cx="2980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YaHei"/>
              </a:rPr>
              <a:t>Agent 3  各自独立作答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25696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4A"/>
                </a:solidFill>
                <a:latin typeface="Microsoft YaHei"/>
              </a:rPr>
              <a:t>N 个 Agent 同时接到同一道题
各自推理，互不知晓他人答案
效果等价于 N 次独立采样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23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14723"/>
                </a:solidFill>
                <a:latin typeface="Microsoft YaHei"/>
              </a:rPr>
              <a:t>=&gt;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353312"/>
            <a:ext cx="3383280" cy="38404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13533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Round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3898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E0C4"/>
                </a:solidFill>
                <a:latin typeface="Microsoft YaHei"/>
              </a:rPr>
              <a:t>第2轮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1874519"/>
            <a:ext cx="3163824" cy="685800"/>
          </a:xfrm>
          <a:prstGeom prst="rect">
            <a:avLst/>
          </a:prstGeom>
          <a:solidFill>
            <a:srgbClr val="E0F0E6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8" y="1947671"/>
            <a:ext cx="2980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YaHei"/>
              </a:rPr>
              <a:t>Agent 1  互阅后更新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5968" y="2697479"/>
            <a:ext cx="3163824" cy="685800"/>
          </a:xfrm>
          <a:prstGeom prst="rect">
            <a:avLst/>
          </a:prstGeom>
          <a:solidFill>
            <a:srgbClr val="E0F0E6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2770631"/>
            <a:ext cx="2980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YaHei"/>
              </a:rPr>
              <a:t>Agent 2  互阅后更新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5968" y="3520439"/>
            <a:ext cx="3163824" cy="685800"/>
          </a:xfrm>
          <a:prstGeom prst="rect">
            <a:avLst/>
          </a:prstGeom>
          <a:solidFill>
            <a:srgbClr val="E0F0E6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3593591"/>
            <a:ext cx="2980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YaHei"/>
              </a:rPr>
              <a:t>Agent 3  互阅后更新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425696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4A"/>
                </a:solidFill>
                <a:latin typeface="Microsoft YaHei"/>
              </a:rPr>
              <a:t>每个 Agent 读到其他所有 Agent
的上一轮完整回答后更新自己
的答案（可以接受或反驳）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423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14723"/>
                </a:solidFill>
                <a:latin typeface="Microsoft YaHei"/>
              </a:rPr>
              <a:t>=&gt;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1353312"/>
            <a:ext cx="3383280" cy="38404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79" y="13533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Round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399" y="13898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E0C4"/>
                </a:solidFill>
                <a:latin typeface="Microsoft YaHei"/>
              </a:rPr>
              <a:t>第3轮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65007" y="1874519"/>
            <a:ext cx="3163824" cy="685800"/>
          </a:xfrm>
          <a:prstGeom prst="rect">
            <a:avLst/>
          </a:prstGeom>
          <a:solidFill>
            <a:srgbClr val="E0F0E6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7" y="1947671"/>
            <a:ext cx="2980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YaHei"/>
              </a:rPr>
              <a:t>Agent 1  收敛共识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65007" y="2697479"/>
            <a:ext cx="3163824" cy="685800"/>
          </a:xfrm>
          <a:prstGeom prst="rect">
            <a:avLst/>
          </a:prstGeom>
          <a:solidFill>
            <a:srgbClr val="E0F0E6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56447" y="2770631"/>
            <a:ext cx="2980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YaHei"/>
              </a:rPr>
              <a:t>Agent 2  收敛共识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65007" y="3520439"/>
            <a:ext cx="3163824" cy="685800"/>
          </a:xfrm>
          <a:prstGeom prst="rect">
            <a:avLst/>
          </a:prstGeom>
          <a:solidFill>
            <a:srgbClr val="E0F0E6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56447" y="3593591"/>
            <a:ext cx="2980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YaHei"/>
              </a:rPr>
              <a:t>Agent 3  收敛共识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19" y="4425696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4A"/>
                </a:solidFill>
                <a:latin typeface="Microsoft YaHei"/>
              </a:rPr>
              <a:t>再次互阅、更新；跑满 R 轮后
多数投票决定最终答案
DynStop: 全员一致即提前终止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367528"/>
            <a:ext cx="11612880" cy="658368"/>
          </a:xfrm>
          <a:prstGeom prst="rect">
            <a:avLst/>
          </a:prstGeom>
          <a:solidFill>
            <a:srgbClr val="E8F4EC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431536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4A"/>
                </a:solidFill>
                <a:latin typeface="Microsoft YaHei"/>
              </a:rPr>
              <a:t>原论文 (Du et al., 2023)：在 GPT-3.5 上，辩论相比单模型在 GSM8K / MMLU 等任务上取得了明显提升。本实验目标：用自部署 Qwen3.8-27B 复现该框架，与 CoT / Self-Consistency 系统对比，测试 4 项改进，并定量回答辩论的收益究竟来自哪里。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27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E0C4"/>
                </a:solidFill>
                <a:latin typeface="Microsoft YaHei"/>
              </a:rPr>
              <a:t>Part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YaHei"/>
              </a:rPr>
              <a:t>方法综述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E0C4"/>
                </a:solidFill>
                <a:latin typeface="Microsoft YaHei"/>
              </a:rPr>
              <a:t>Method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LLM 多智能体辩论  | 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36815" y="64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Microsoft YaHei"/>
              </a:rPr>
              <a:t>02  方法综述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03504"/>
            <a:ext cx="64008" cy="493776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85216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14723"/>
                </a:solidFill>
                <a:latin typeface="Microsoft YaHei"/>
              </a:rPr>
              <a:t>2.1  五种对比方法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64008" cy="82296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4723"/>
                </a:solidFill>
                <a:latin typeface="Microsoft YaHei"/>
              </a:rPr>
              <a:t>Single（直答基线）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8249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YaHei"/>
              </a:rPr>
              <a:t>预填充答案开头（如 \boxed{），迫使模型跳过推理直接给出答案。纯精度下界基线，用于判断推理对任务的贡献。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49840" y="1371600"/>
            <a:ext cx="1828800" cy="365760"/>
          </a:xfrm>
          <a:prstGeom prst="rect">
            <a:avLst/>
          </a:prstGeom>
          <a:solidFill>
            <a:srgbClr val="E8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14723"/>
                </a:solidFill>
                <a:latin typeface="Microsoft YaHei"/>
              </a:rPr>
              <a:t>1 次调用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67712"/>
            <a:ext cx="64008" cy="82296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295144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4723"/>
                </a:solidFill>
                <a:latin typeface="Microsoft YaHei"/>
              </a:rPr>
              <a:t>CoT（思维链）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YaHei"/>
              </a:rPr>
              <a:t>提示模型逐步推理，temperature=0，输出上限 16 384 token。消除了原论文中 2048 token 上限导致的截断偏差（见结果章节）。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9840" y="2340864"/>
            <a:ext cx="1828800" cy="365760"/>
          </a:xfrm>
          <a:prstGeom prst="rect">
            <a:avLst/>
          </a:prstGeom>
          <a:solidFill>
            <a:srgbClr val="E8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0" y="23408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14723"/>
                </a:solidFill>
                <a:latin typeface="Microsoft YaHei"/>
              </a:rPr>
              <a:t>1 次调用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36976"/>
            <a:ext cx="64008" cy="82296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26440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4723"/>
                </a:solidFill>
                <a:latin typeface="Microsoft YaHei"/>
              </a:rPr>
              <a:t>SC@k（自洽投票）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62102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YaHei"/>
              </a:rPr>
              <a:t>采样 k 条 CoT（temperature=0.7），多数投票。SC@3 与 Debate Round-1 的调用次数完全相同，构成最直接的成本对比基准。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9840" y="3310128"/>
            <a:ext cx="1828800" cy="365760"/>
          </a:xfrm>
          <a:prstGeom prst="rect">
            <a:avLst/>
          </a:prstGeom>
          <a:solidFill>
            <a:srgbClr val="E8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0" y="33101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14723"/>
                </a:solidFill>
                <a:latin typeface="Microsoft YaHei"/>
              </a:rPr>
              <a:t>k 次调用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206240"/>
            <a:ext cx="64008" cy="82296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23367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4723"/>
                </a:solidFill>
                <a:latin typeface="Microsoft YaHei"/>
              </a:rPr>
              <a:t>Debate（多智能体辩论）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5902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YaHei"/>
              </a:rPr>
              <a:t>N=3 个 Agent，R=3 轮互相阅读对方答案后更新，最终多数投票。每轮 prompt 包含所有他人上轮完整回答，导致 prompt token 随轮次迅速增长。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0" y="4279392"/>
            <a:ext cx="1828800" cy="365760"/>
          </a:xfrm>
          <a:prstGeom prst="rect">
            <a:avLst/>
          </a:prstGeom>
          <a:solidFill>
            <a:srgbClr val="E8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42793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14723"/>
                </a:solidFill>
                <a:latin typeface="Microsoft YaHei"/>
              </a:rPr>
              <a:t>9 次调用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175504"/>
            <a:ext cx="64008" cy="82296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20293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4723"/>
                </a:solidFill>
                <a:latin typeface="Microsoft YaHei"/>
              </a:rPr>
              <a:t>改进方法（我们的贡献）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55955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YaHei"/>
              </a:rPr>
              <a:t>异质角色（Roles）/ 裁判（Judge）/ 置信度投票（ConfVote）/ 动态提前终止（DynStop）。其中 DynStop 是最有价值的改进，见实验结果。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9840" y="5248656"/>
            <a:ext cx="1828800" cy="365760"/>
          </a:xfrm>
          <a:prstGeom prst="rect">
            <a:avLst/>
          </a:prstGeom>
          <a:solidFill>
            <a:srgbClr val="E8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40" y="52486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14723"/>
                </a:solidFill>
                <a:latin typeface="Microsoft YaHei"/>
              </a:rPr>
              <a:t>9+1 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27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E0C4"/>
                </a:solidFill>
                <a:latin typeface="Microsoft YaHei"/>
              </a:rPr>
              <a:t>Part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YaHei"/>
              </a:rPr>
              <a:t>模型与方法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E0C4"/>
                </a:solidFill>
                <a:latin typeface="Microsoft YaHei"/>
              </a:rPr>
              <a:t>Model &amp; Method Details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LLM 多智能体辩论  | 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36815" y="64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Microsoft YaHei"/>
              </a:rPr>
              <a:t>03  模型与方法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03504"/>
            <a:ext cx="64008" cy="493776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85216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14723"/>
                </a:solidFill>
                <a:latin typeface="Microsoft YaHei"/>
              </a:rPr>
              <a:t>3.1  辩论机制详解（原版同质辩论）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457200" cy="118872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64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298448"/>
            <a:ext cx="11109960" cy="1188720"/>
          </a:xfrm>
          <a:prstGeom prst="rect">
            <a:avLst/>
          </a:prstGeom>
          <a:solidFill>
            <a:srgbClr val="E8F4EC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533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4723"/>
                </a:solidFill>
                <a:latin typeface="Microsoft YaHei"/>
              </a:rPr>
              <a:t>Round 1：各自独立作答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1907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YaHei"/>
              </a:rPr>
              <a:t>3 个 Agent 接到同一道题，各自独立推理。Prompt: 仅含题目，无任何他人信息。等价于 3 次独立 CoT 采样（与 SC@3 调用数相同）。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70048"/>
            <a:ext cx="457200" cy="118872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358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670048"/>
            <a:ext cx="11109960" cy="1188720"/>
          </a:xfrm>
          <a:prstGeom prst="rect">
            <a:avLst/>
          </a:prstGeom>
          <a:solidFill>
            <a:srgbClr val="E8F4EC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249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4723"/>
                </a:solidFill>
                <a:latin typeface="Microsoft YaHei"/>
              </a:rPr>
              <a:t>Round 2：互阅、更新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9067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YaHei"/>
              </a:rPr>
              <a:t>每个 Agent 的 prompt 末尾追加其他 2 人上一轮的完整回答。prompt 长度大幅增加（MATH 均 prompt 约 27 k token）。Agent 可以接受他人结论、指出错误、或坚持己见。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041648"/>
            <a:ext cx="457200" cy="118872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407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041648"/>
            <a:ext cx="11109960" cy="1188720"/>
          </a:xfrm>
          <a:prstGeom prst="rect">
            <a:avLst/>
          </a:prstGeom>
          <a:solidFill>
            <a:srgbClr val="E8F4EC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965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4723"/>
                </a:solidFill>
                <a:latin typeface="Microsoft YaHei"/>
              </a:rPr>
              <a:t>Round 3：再次互阅、汇总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6227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YaHei"/>
              </a:rPr>
              <a:t>同 Round 2，再次追加其他 Agent 当轮回答。Round 3 结束后多数投票；若启用 DynStop，某轮全员一致即提前停止。完整 3 轮：共 9 次 API 调用，prompt token 约为 CoT 的 30 倍。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LLM 多智能体辩论  | 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36815" y="64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Microsoft YaHei"/>
              </a:rPr>
              <a:t>03  模型与方法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03504"/>
            <a:ext cx="64008" cy="493776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85216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14723"/>
                </a:solidFill>
                <a:latin typeface="Microsoft YaHei"/>
              </a:rPr>
              <a:t>3.2  四项改进（本组原创贡献）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623560" cy="329184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62456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A  异质角色 (Roles)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55064"/>
            <a:ext cx="5623560" cy="1636776"/>
          </a:xfrm>
          <a:prstGeom prst="rect">
            <a:avLst/>
          </a:prstGeom>
          <a:solidFill>
            <a:srgbClr val="E8F4EC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728216"/>
            <a:ext cx="5404104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三个 Agent 分配不同 system prompt：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  求解者：步骤严谨，逐步推理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  质疑者：专找逻辑漏洞和计算错误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  验证者：用不同方法复核结果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每人额外在末行输出 Confidence: N（0-100）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7" y="1325880"/>
            <a:ext cx="5623560" cy="329184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7" y="1362456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B  裁判 Agent (+Judge)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7" y="1655064"/>
            <a:ext cx="5623560" cy="1636776"/>
          </a:xfrm>
          <a:prstGeom prst="rect">
            <a:avLst/>
          </a:prstGeom>
          <a:solidFill>
            <a:srgbClr val="E8F4EC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5" y="1728216"/>
            <a:ext cx="5404104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辩论 3 轮结束后追加 1 次调用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裁判读完所有辩手最终发言后独立裁决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提示中明确：不要按票数决定，多数可能是错的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若所有 Agent 都错，裁判可独立解题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实验结果：效果与多数投票相当，不显著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474720"/>
            <a:ext cx="5623560" cy="329184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511296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C  置信度加权投票 (ConfVote)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803904"/>
            <a:ext cx="5623560" cy="1636776"/>
          </a:xfrm>
          <a:prstGeom prst="rect">
            <a:avLst/>
          </a:prstGeom>
          <a:solidFill>
            <a:srgbClr val="E8F4EC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877056"/>
            <a:ext cx="5404104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Roles / AntiConf 版本中 Agent 输出置信度分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按置信度加权投票，替代简单多数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权重 = Agent 自报的 0-100 分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实验结果：与简单多数投票无显著差异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原因：Agent 自报置信度校准性差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7" y="3474720"/>
            <a:ext cx="5623560" cy="329184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7" y="3511296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D  动态提前终止 (DynStop)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7" y="3803904"/>
            <a:ext cx="5623560" cy="1636776"/>
          </a:xfrm>
          <a:prstGeom prst="rect">
            <a:avLst/>
          </a:prstGeom>
          <a:solidFill>
            <a:srgbClr val="E8F4EC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5" y="3877056"/>
            <a:ext cx="5404104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某轮全员答案一致即提前停止，不浪费后续轮次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离线精确模拟，不重新调 API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GSM8K：97-99% 的题第 1 轮全员一致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实测节省 82-88% token，准确率与完整辩论相同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=&gt; 本组最有价值的改进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LLM 多智能体辩论  | 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36815" y="64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Microsoft YaHei"/>
              </a:rPr>
              <a:t>03  模型与方法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03504"/>
            <a:ext cx="64008" cy="493776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85216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14723"/>
                </a:solidFill>
                <a:latin typeface="Microsoft YaHei"/>
              </a:rPr>
              <a:t>3.3  实验设置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1673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14723"/>
                </a:solidFill>
                <a:latin typeface="Microsoft YaHei"/>
              </a:rPr>
              <a:t>数据集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82496"/>
            <a:ext cx="1828800" cy="530352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82496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GSM8K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7739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4723"/>
                </a:solidFill>
                <a:latin typeface="Microsoft YaHei"/>
              </a:rPr>
              <a:t>100 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7739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Microsoft YaHei"/>
              </a:rPr>
              <a:t>小学数学应用题，整数答案，自动判分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7739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4A"/>
                </a:solidFill>
                <a:latin typeface="Microsoft YaHei"/>
              </a:rPr>
              <a:t>Qwen 在此近乎饱和 (93%)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40864"/>
            <a:ext cx="1828800" cy="530352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340864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MATH-hard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4323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4723"/>
                </a:solidFill>
                <a:latin typeface="Microsoft YaHei"/>
              </a:rPr>
              <a:t>156 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43230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Microsoft YaHei"/>
              </a:rPr>
              <a:t>MATH-500 中 Level 4-5 且答案为整数的全部题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43230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4A"/>
                </a:solidFill>
                <a:latin typeface="Microsoft YaHei"/>
              </a:rPr>
              <a:t>主要实验数据集，难度适中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99232"/>
            <a:ext cx="1828800" cy="530352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999232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MMLU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0906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4723"/>
                </a:solidFill>
                <a:latin typeface="Microsoft YaHei"/>
              </a:rPr>
              <a:t>100 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0906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Microsoft YaHei"/>
              </a:rPr>
              <a:t>多领域四选一，测试事实性知识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0906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4A"/>
                </a:solidFill>
                <a:latin typeface="Microsoft YaHei"/>
              </a:rPr>
              <a:t>覆盖 57 个学科领域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86200"/>
            <a:ext cx="64008" cy="178308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88620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14723"/>
                </a:solidFill>
                <a:latin typeface="Microsoft YaHei"/>
              </a:rPr>
              <a:t>关键设置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5196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•  模型：Qwen3.8-27B（自部署 vLLM，关闭内置思考模式，temperature=0.7，top_p=0.8）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•  输出上限：MAX_TOKENS = 16 384（关键！原论文用 2048 会造成截断偏差，见结果章节）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•  对比方式：所有方法在相同一批题目上评估；方法间差异用精确 McNemar 检验（双侧）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•  Agent 数量：N=3（默认），消融实验含 N=1/3/5；轮数：R=3；固定随机种子可复现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27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E0C4"/>
                </a:solidFill>
                <a:latin typeface="Microsoft YaHei"/>
              </a:rPr>
              <a:t>Part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YaHei"/>
              </a:rPr>
              <a:t>实验结果及分析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E0C4"/>
                </a:solidFill>
                <a:latin typeface="Microsoft YaHei"/>
              </a:rPr>
              <a:t>Experimental Results &amp;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LLM 多智能体辩论  | 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36815" y="64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Microsoft YaHei"/>
              </a:rPr>
              <a:t>04  实验结果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03504"/>
            <a:ext cx="64008" cy="493776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85216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14723"/>
                </a:solidFill>
                <a:latin typeface="Microsoft YaHei"/>
              </a:rPr>
              <a:t>4.1  关键发现：截断偏差（v1 vs v2）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16736"/>
            <a:ext cx="5394960" cy="3657600"/>
          </a:xfrm>
          <a:prstGeom prst="rect">
            <a:avLst/>
          </a:prstGeom>
          <a:solidFill>
            <a:srgbClr val="E8F4EC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7160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14723"/>
                </a:solidFill>
                <a:latin typeface="Microsoft YaHei"/>
              </a:rPr>
              <a:t>v1  输出上限 2 048 token（与原论文一致）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828800"/>
            <a:ext cx="1828800" cy="502920"/>
          </a:xfrm>
          <a:prstGeom prst="rect">
            <a:avLst/>
          </a:prstGeom>
          <a:solidFill>
            <a:srgbClr val="E0F0E8"/>
          </a:solidFill>
          <a:ln w="508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9019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14723"/>
                </a:solidFill>
                <a:latin typeface="Microsoft YaHei"/>
              </a:rPr>
              <a:t>Debate 3x3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1828800"/>
            <a:ext cx="1280160" cy="502920"/>
          </a:xfrm>
          <a:prstGeom prst="rect">
            <a:avLst/>
          </a:prstGeom>
          <a:solidFill>
            <a:srgbClr val="E0F0E8"/>
          </a:solidFill>
          <a:ln w="508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190195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14723"/>
                </a:solidFill>
                <a:latin typeface="Microsoft YaHei"/>
              </a:rPr>
              <a:t>95.5%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828800"/>
            <a:ext cx="1737360" cy="502920"/>
          </a:xfrm>
          <a:prstGeom prst="rect">
            <a:avLst/>
          </a:prstGeom>
          <a:solidFill>
            <a:srgbClr val="E0F0E8"/>
          </a:solidFill>
          <a:ln w="508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9019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14723"/>
                </a:solidFill>
                <a:latin typeface="Microsoft YaHei"/>
              </a:rPr>
              <a:t>截断率  8.8%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395728"/>
            <a:ext cx="18288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4688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Microsoft YaHei"/>
              </a:rPr>
              <a:t>CoT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0280" y="2395728"/>
            <a:ext cx="128016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246888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Microsoft YaHei"/>
              </a:rPr>
              <a:t>76.3%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2395728"/>
            <a:ext cx="173736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24688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Microsoft YaHei"/>
              </a:rPr>
              <a:t>截断率 21.2%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962656"/>
            <a:ext cx="18288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03580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Microsoft YaHei"/>
              </a:rPr>
              <a:t>SC@6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40280" y="2962656"/>
            <a:ext cx="128016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303580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Microsoft YaHei"/>
              </a:rPr>
              <a:t>81.4%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2962656"/>
            <a:ext cx="173736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303580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Microsoft YaHei"/>
              </a:rPr>
              <a:t>截断率 24.1%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3566160"/>
            <a:ext cx="5120640" cy="822960"/>
          </a:xfrm>
          <a:prstGeom prst="rect">
            <a:avLst/>
          </a:prstGeom>
          <a:solidFill>
            <a:srgbClr val="FFF0CC"/>
          </a:solidFill>
          <a:ln w="508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36301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Microsoft YaHei"/>
              </a:rPr>
              <a:t>表面结论：辩论 vs CoT 差距 +19 pp，看似辩论大幅领先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39776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4A"/>
                </a:solidFill>
                <a:latin typeface="Microsoft YaHei"/>
              </a:rPr>
              <a:t>真实原因：CoT 有 21% 的调用被截断（答案未写完被判错）；辩论后续轮次每次只需核对他人解答，回复更短，截断率仅 8.8%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25603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14723"/>
                </a:solidFill>
                <a:latin typeface="Microsoft YaHei"/>
              </a:rPr>
              <a:t>=&gt;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1316736"/>
            <a:ext cx="5852160" cy="3657600"/>
          </a:xfrm>
          <a:prstGeom prst="rect">
            <a:avLst/>
          </a:prstGeom>
          <a:solidFill>
            <a:srgbClr val="E8F8EE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137160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14723"/>
                </a:solidFill>
                <a:latin typeface="Microsoft YaHei"/>
              </a:rPr>
              <a:t>v2  输出上限 16 384 token（消除截断）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1828800"/>
            <a:ext cx="1828800" cy="502920"/>
          </a:xfrm>
          <a:prstGeom prst="rect">
            <a:avLst/>
          </a:prstGeom>
          <a:solidFill>
            <a:srgbClr val="D8F0E0"/>
          </a:solidFill>
          <a:ln w="508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19019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14723"/>
                </a:solidFill>
                <a:latin typeface="Microsoft YaHei"/>
              </a:rPr>
              <a:t>Debate 3x3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09560" y="1828800"/>
            <a:ext cx="1280160" cy="502920"/>
          </a:xfrm>
          <a:prstGeom prst="rect">
            <a:avLst/>
          </a:prstGeom>
          <a:solidFill>
            <a:srgbClr val="D8F0E0"/>
          </a:solidFill>
          <a:ln w="508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0" y="190195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14723"/>
                </a:solidFill>
                <a:latin typeface="Microsoft YaHei"/>
              </a:rPr>
              <a:t>100.0%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1828800"/>
            <a:ext cx="1737360" cy="502920"/>
          </a:xfrm>
          <a:prstGeom prst="rect">
            <a:avLst/>
          </a:prstGeom>
          <a:solidFill>
            <a:srgbClr val="D8F0E0"/>
          </a:solidFill>
          <a:ln w="508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81160" y="19019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14723"/>
                </a:solidFill>
                <a:latin typeface="Microsoft YaHei"/>
              </a:rPr>
              <a:t>截断率  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2395728"/>
            <a:ext cx="18288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24688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Microsoft YaHei"/>
              </a:rPr>
              <a:t>CoT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09560" y="2395728"/>
            <a:ext cx="128016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80" y="246888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Microsoft YaHei"/>
              </a:rPr>
              <a:t> 98.7%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2395728"/>
            <a:ext cx="173736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81160" y="24688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Microsoft YaHei"/>
              </a:rPr>
              <a:t>截断率  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2962656"/>
            <a:ext cx="18288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303580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Microsoft YaHei"/>
              </a:rPr>
              <a:t>SC@6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09560" y="2962656"/>
            <a:ext cx="128016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55280" y="303580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Microsoft YaHei"/>
              </a:rPr>
              <a:t>100.0%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35440" y="2962656"/>
            <a:ext cx="173736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81160" y="303580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Microsoft YaHei"/>
              </a:rPr>
              <a:t>截断率  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3566160"/>
            <a:ext cx="5577840" cy="822960"/>
          </a:xfrm>
          <a:prstGeom prst="rect">
            <a:avLst/>
          </a:prstGeom>
          <a:solidFill>
            <a:srgbClr val="D8F0E0"/>
          </a:solidFill>
          <a:ln w="508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72200" y="36301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14723"/>
                </a:solidFill>
                <a:latin typeface="Microsoft YaHei"/>
              </a:rPr>
              <a:t>消除截断后：辩论 vs CoT 差距仅 +1.3 pp（p=0.5），无统计显著差异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397763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4A"/>
                </a:solidFill>
                <a:latin typeface="Microsoft YaHei"/>
              </a:rPr>
              <a:t>33 道被截断的 CoT 题用 16k 上限重跑：30 道答对，最长需 11.7k token。本实验统一使用 16 384 token 上限。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120640"/>
            <a:ext cx="11612880" cy="621792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5175504"/>
            <a:ext cx="11247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核心发现：辩论在低 token 预算下的优势很大程度来自对截断的鲁棒性——被截断的 Agent 可从他人完整解答里借到答案。消除截断后，差距消失。这是方法对比研究中一个容易忽视的系统性偏差。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LLM 多智能体辩论  | 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36815" y="64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Microsoft YaHei"/>
              </a:rPr>
              <a:t>04  实验结果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03504"/>
            <a:ext cx="64008" cy="493776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85216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14723"/>
                </a:solidFill>
                <a:latin typeface="Microsoft YaHei"/>
              </a:rPr>
              <a:t>4.2  GSM8K：所有推理方法均触及上限，无显著差异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35024"/>
            <a:ext cx="1965960" cy="548640"/>
          </a:xfrm>
          <a:prstGeom prst="rect">
            <a:avLst/>
          </a:prstGeom>
          <a:solidFill>
            <a:srgbClr val="014723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39903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方法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335024"/>
            <a:ext cx="1143000" cy="548640"/>
          </a:xfrm>
          <a:prstGeom prst="rect">
            <a:avLst/>
          </a:prstGeom>
          <a:solidFill>
            <a:srgbClr val="014723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0864" y="1399032"/>
            <a:ext cx="1033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准确率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335024"/>
            <a:ext cx="1828800" cy="548640"/>
          </a:xfrm>
          <a:prstGeom prst="rect">
            <a:avLst/>
          </a:prstGeom>
          <a:solidFill>
            <a:srgbClr val="014723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1399032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token/题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83664"/>
            <a:ext cx="1965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194767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Single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1883664"/>
            <a:ext cx="1143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40864" y="1947672"/>
            <a:ext cx="1033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45.0%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1883664"/>
            <a:ext cx="1828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47672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112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432304"/>
            <a:ext cx="1965960" cy="548640"/>
          </a:xfrm>
          <a:prstGeom prst="rect">
            <a:avLst/>
          </a:prstGeom>
          <a:solidFill>
            <a:srgbClr val="E8F4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" y="249631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CoT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2432304"/>
            <a:ext cx="1143000" cy="548640"/>
          </a:xfrm>
          <a:prstGeom prst="rect">
            <a:avLst/>
          </a:prstGeom>
          <a:solidFill>
            <a:srgbClr val="E8F4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40864" y="2496312"/>
            <a:ext cx="1033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93.0%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2432304"/>
            <a:ext cx="1828800" cy="548640"/>
          </a:xfrm>
          <a:prstGeom prst="rect">
            <a:avLst/>
          </a:prstGeom>
          <a:solidFill>
            <a:srgbClr val="E8F4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9584" y="2496312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583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980944"/>
            <a:ext cx="1965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04495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SC@3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2980944"/>
            <a:ext cx="1143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40864" y="3044952"/>
            <a:ext cx="1033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92.0%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2980944"/>
            <a:ext cx="1828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9584" y="3044952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1 836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529584"/>
            <a:ext cx="1965960" cy="548640"/>
          </a:xfrm>
          <a:prstGeom prst="rect">
            <a:avLst/>
          </a:prstGeom>
          <a:solidFill>
            <a:srgbClr val="E8F4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" y="359359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SC@6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3529584"/>
            <a:ext cx="1143000" cy="548640"/>
          </a:xfrm>
          <a:prstGeom prst="rect">
            <a:avLst/>
          </a:prstGeom>
          <a:solidFill>
            <a:srgbClr val="E8F4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40864" y="3593592"/>
            <a:ext cx="1033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95.0%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3529584"/>
            <a:ext cx="1828800" cy="548640"/>
          </a:xfrm>
          <a:prstGeom prst="rect">
            <a:avLst/>
          </a:prstGeom>
          <a:solidFill>
            <a:srgbClr val="E8F4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29584" y="3593592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3 669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078224"/>
            <a:ext cx="1965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" y="414223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Debate 3x3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4078224"/>
            <a:ext cx="1143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40864" y="4142232"/>
            <a:ext cx="1033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95.0%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0" y="4078224"/>
            <a:ext cx="1828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29584" y="4142232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19 128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626864"/>
            <a:ext cx="1965960" cy="548640"/>
          </a:xfrm>
          <a:prstGeom prst="rect">
            <a:avLst/>
          </a:prstGeom>
          <a:solidFill>
            <a:srgbClr val="FFF0C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" y="469087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Microsoft YaHei"/>
              </a:rPr>
              <a:t>DynStop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0" y="4626864"/>
            <a:ext cx="1143000" cy="548640"/>
          </a:xfrm>
          <a:prstGeom prst="rect">
            <a:avLst/>
          </a:prstGeom>
          <a:solidFill>
            <a:srgbClr val="FFF0C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40864" y="4690872"/>
            <a:ext cx="1033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Microsoft YaHei"/>
              </a:rPr>
              <a:t>95.0%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0" y="4626864"/>
            <a:ext cx="1828800" cy="548640"/>
          </a:xfrm>
          <a:prstGeom prst="rect">
            <a:avLst/>
          </a:prstGeom>
          <a:solidFill>
            <a:srgbClr val="FFF0C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29584" y="4690872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Microsoft YaHei"/>
              </a:rPr>
              <a:t>2 627 *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5120640"/>
            <a:ext cx="5577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  <a:latin typeface="Microsoft YaHei"/>
              </a:rPr>
              <a:t>  DynStop (*) 节省 86% token，精度不变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  <a:latin typeface="Microsoft YaHei"/>
              </a:rPr>
              <a:t>  所有对比 p &gt;= 0.5 (McNemar)，无显著差异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  <a:latin typeface="Microsoft YaHei"/>
              </a:rPr>
              <a:t>  99% 的题在第 1 轮三个 Agent 就全票一致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  <a:latin typeface="Microsoft YaHei"/>
              </a:rPr>
              <a:t>  辩论的价值：成本控制，而非提升精度</a:t>
            </a:r>
          </a:p>
        </p:txBody>
      </p:sp>
      <p:pic>
        <p:nvPicPr>
          <p:cNvPr id="50" name="Picture 49" descr="gsm8k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621792"/>
            <a:ext cx="6126480" cy="382905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897880" y="5669280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554A"/>
                </a:solidFill>
                <a:latin typeface="Microsoft YaHei"/>
              </a:rPr>
              <a:t>图1  GSM8K 准确率 vs token 成本（log 轴）。各方法精度聚集在 92-95%，DynStop 成本最低。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LLM 多智能体辩论  | 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36815" y="64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Microsoft YaHei"/>
              </a:rPr>
              <a:t>04  实验结果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03504"/>
            <a:ext cx="64008" cy="493776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85216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14723"/>
                </a:solidFill>
                <a:latin typeface="Microsoft YaHei"/>
              </a:rPr>
              <a:t>4.2b  GSM8K：辩论轮数 &amp; 纠错/从众分析</a:t>
            </a:r>
          </a:p>
        </p:txBody>
      </p:sp>
      <p:pic>
        <p:nvPicPr>
          <p:cNvPr id="7" name="Picture 6" descr="gsm8k_ro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58368"/>
            <a:ext cx="5943600" cy="396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571500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554A"/>
                </a:solidFill>
                <a:latin typeface="Microsoft YaHei"/>
              </a:rPr>
              <a:t>图2  准确率随辩论轮数的变化。所有变体第 1 轮就与 SC@6 持平，后续轮次几乎无变化。</a:t>
            </a:r>
          </a:p>
        </p:txBody>
      </p:sp>
      <p:pic>
        <p:nvPicPr>
          <p:cNvPr id="9" name="Picture 8" descr="gsm8k_transi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658368"/>
            <a:ext cx="5669280" cy="3543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571500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554A"/>
                </a:solidFill>
                <a:latin typeface="Microsoft YaHei"/>
              </a:rPr>
              <a:t>图3  辩论中答案迁移次数（所有轮次累计）。错-&gt;对 6 次，对-&gt;错 4 次，净收益极小。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5349240"/>
            <a:ext cx="11795760" cy="292608"/>
          </a:xfrm>
          <a:prstGeom prst="rect">
            <a:avLst/>
          </a:prstGeom>
          <a:solidFill>
            <a:srgbClr val="E8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539496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4A"/>
                </a:solidFill>
                <a:latin typeface="Microsoft YaHei"/>
              </a:rPr>
              <a:t>结论：GSM8K 上辩论几乎不改变答案（每 Agent 每轮改变率仅 1.7%），模型已接近该任务的精度上限，辩论无提升空间。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LLM 多智能体辩论  | 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36815" y="64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Microsoft YaHei"/>
              </a:rPr>
              <a:t>04  实验结果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03504"/>
            <a:ext cx="64008" cy="493776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85216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14723"/>
                </a:solidFill>
                <a:latin typeface="Microsoft YaHei"/>
              </a:rPr>
              <a:t>4.3  MATH-hard：成本效益分析（156 题，Level 4-5）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35024"/>
            <a:ext cx="1965960" cy="548640"/>
          </a:xfrm>
          <a:prstGeom prst="rect">
            <a:avLst/>
          </a:prstGeom>
          <a:solidFill>
            <a:srgbClr val="014723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39903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方法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335024"/>
            <a:ext cx="1234440" cy="548640"/>
          </a:xfrm>
          <a:prstGeom prst="rect">
            <a:avLst/>
          </a:prstGeom>
          <a:solidFill>
            <a:srgbClr val="014723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0864" y="1399032"/>
            <a:ext cx="1124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准确率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335024"/>
            <a:ext cx="2468880" cy="548640"/>
          </a:xfrm>
          <a:prstGeom prst="rect">
            <a:avLst/>
          </a:prstGeom>
          <a:solidFill>
            <a:srgbClr val="014723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399032"/>
            <a:ext cx="2359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token（相对CoT）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83664"/>
            <a:ext cx="1965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194767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CoT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1883664"/>
            <a:ext cx="1234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40864" y="1947672"/>
            <a:ext cx="1124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98.7%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1883664"/>
            <a:ext cx="2468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47672"/>
            <a:ext cx="2359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1 861  (1x)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432304"/>
            <a:ext cx="1965960" cy="548640"/>
          </a:xfrm>
          <a:prstGeom prst="rect">
            <a:avLst/>
          </a:prstGeom>
          <a:solidFill>
            <a:srgbClr val="E8F4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" y="249631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SC@3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2432304"/>
            <a:ext cx="1234440" cy="548640"/>
          </a:xfrm>
          <a:prstGeom prst="rect">
            <a:avLst/>
          </a:prstGeom>
          <a:solidFill>
            <a:srgbClr val="E8F4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40864" y="2496312"/>
            <a:ext cx="1124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100%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2432304"/>
            <a:ext cx="2468880" cy="548640"/>
          </a:xfrm>
          <a:prstGeom prst="rect">
            <a:avLst/>
          </a:prstGeom>
          <a:solidFill>
            <a:srgbClr val="E8F4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21024" y="2496312"/>
            <a:ext cx="2359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5 619  (3x)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980944"/>
            <a:ext cx="1965960" cy="548640"/>
          </a:xfrm>
          <a:prstGeom prst="rect">
            <a:avLst/>
          </a:prstGeom>
          <a:solidFill>
            <a:srgbClr val="FFF0C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04495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Microsoft YaHei"/>
              </a:rPr>
              <a:t>DynStop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2980944"/>
            <a:ext cx="1234440" cy="548640"/>
          </a:xfrm>
          <a:prstGeom prst="rect">
            <a:avLst/>
          </a:prstGeom>
          <a:solidFill>
            <a:srgbClr val="FFF0C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40864" y="3044952"/>
            <a:ext cx="1124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Microsoft YaHei"/>
              </a:rPr>
              <a:t>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2980944"/>
            <a:ext cx="2468880" cy="548640"/>
          </a:xfrm>
          <a:prstGeom prst="rect">
            <a:avLst/>
          </a:prstGeom>
          <a:solidFill>
            <a:srgbClr val="FFF0C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1024" y="3044952"/>
            <a:ext cx="2359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Microsoft YaHei"/>
              </a:rPr>
              <a:t>6 893  (3.7x) 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529584"/>
            <a:ext cx="1965960" cy="548640"/>
          </a:xfrm>
          <a:prstGeom prst="rect">
            <a:avLst/>
          </a:prstGeom>
          <a:solidFill>
            <a:srgbClr val="E8F4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" y="359359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SC@6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3529584"/>
            <a:ext cx="1234440" cy="548640"/>
          </a:xfrm>
          <a:prstGeom prst="rect">
            <a:avLst/>
          </a:prstGeom>
          <a:solidFill>
            <a:srgbClr val="E8F4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40864" y="3593592"/>
            <a:ext cx="1124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100%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3529584"/>
            <a:ext cx="2468880" cy="548640"/>
          </a:xfrm>
          <a:prstGeom prst="rect">
            <a:avLst/>
          </a:prstGeom>
          <a:solidFill>
            <a:srgbClr val="E8F4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21024" y="3593592"/>
            <a:ext cx="2359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11 246 (6x)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078224"/>
            <a:ext cx="1965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" y="414223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Debate 3x2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4078224"/>
            <a:ext cx="1234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40864" y="4142232"/>
            <a:ext cx="1124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100%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66160" y="4078224"/>
            <a:ext cx="2468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21024" y="4142232"/>
            <a:ext cx="2359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24 741 (13x)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626864"/>
            <a:ext cx="1965960" cy="548640"/>
          </a:xfrm>
          <a:prstGeom prst="rect">
            <a:avLst/>
          </a:prstGeom>
          <a:solidFill>
            <a:srgbClr val="E8F4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" y="469087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Debate 3x3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0" y="4626864"/>
            <a:ext cx="1234440" cy="548640"/>
          </a:xfrm>
          <a:prstGeom prst="rect">
            <a:avLst/>
          </a:prstGeom>
          <a:solidFill>
            <a:srgbClr val="E8F4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40864" y="4690872"/>
            <a:ext cx="1124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100%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66160" y="4626864"/>
            <a:ext cx="2468880" cy="548640"/>
          </a:xfrm>
          <a:prstGeom prst="rect">
            <a:avLst/>
          </a:prstGeom>
          <a:solidFill>
            <a:srgbClr val="E8F4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21024" y="4690872"/>
            <a:ext cx="2359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54 508 (29x)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5120640"/>
            <a:ext cx="557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  <a:latin typeface="Microsoft YaHei"/>
              </a:rPr>
              <a:t>  CoT 达 98.7%，Qwen3.8 在此已接近上限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  <a:latin typeface="Microsoft YaHei"/>
              </a:rPr>
              <a:t>  SC@3、DynStop、SC@6 均达 100%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  <a:latin typeface="Microsoft YaHei"/>
              </a:rPr>
              <a:t>  DynStop (*) 只用 3.7x CoT 成本，最优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  <a:latin typeface="Microsoft YaHei"/>
              </a:rPr>
              <a:t>  Debate 3x3 耗 29x 但无额外精度提升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  <a:latin typeface="Microsoft YaHei"/>
              </a:rPr>
              <a:t>  全部对比 p=1.0，无统计显著差异</a:t>
            </a:r>
          </a:p>
        </p:txBody>
      </p:sp>
      <p:pic>
        <p:nvPicPr>
          <p:cNvPr id="50" name="Picture 49" descr="math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621792"/>
            <a:ext cx="6126480" cy="382905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897880" y="5669280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554A"/>
                </a:solidFill>
                <a:latin typeface="Microsoft YaHei"/>
              </a:rPr>
              <a:t>图4  MATH-hard 准确率 vs token 成本。DynStop 是绿色改进点，以 3.7x 成本达到 100%。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LLM 多智能体辩论  | 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36815" y="64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Microsoft YaHei"/>
              </a:rPr>
              <a:t>04  实验结果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03504"/>
            <a:ext cx="64008" cy="493776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85216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14723"/>
                </a:solidFill>
                <a:latin typeface="Microsoft YaHei"/>
              </a:rPr>
              <a:t>4.3b  MATH-hard：辩论轮数 &amp; Agent 数量消融（80 题）</a:t>
            </a:r>
          </a:p>
        </p:txBody>
      </p:sp>
      <p:pic>
        <p:nvPicPr>
          <p:cNvPr id="7" name="Picture 6" descr="math_ro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58368"/>
            <a:ext cx="5943600" cy="396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553212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554A"/>
                </a:solidFill>
                <a:latin typeface="Microsoft YaHei"/>
              </a:rPr>
              <a:t>图5  准确率随轮数变化。第 2 轮已几乎达到峰值（100%），第 3 轮无额外收益。三种辩论变体曲线基本重合。</a:t>
            </a:r>
          </a:p>
        </p:txBody>
      </p:sp>
      <p:pic>
        <p:nvPicPr>
          <p:cNvPr id="9" name="Picture 8" descr="math_ag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658368"/>
            <a:ext cx="5669280" cy="3779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553212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554A"/>
                </a:solidFill>
                <a:latin typeface="Microsoft YaHei"/>
              </a:rPr>
              <a:t>图6  Agent 数量消融（1/3/5 个）。1 Agent 自我反思达 98.8%，3 Agent 达 100%。5 Agent 成本是 3 Agent 的 2.4 倍，精度无差异。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5897880"/>
            <a:ext cx="11795760" cy="274320"/>
          </a:xfrm>
          <a:prstGeom prst="rect">
            <a:avLst/>
          </a:prstGeom>
          <a:solidFill>
            <a:srgbClr val="E8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5934456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4A"/>
                </a:solidFill>
                <a:latin typeface="Microsoft YaHei"/>
              </a:rPr>
              <a:t>结论：对于 Qwen3.8，3 个 Agent 已是性价比最优配置；1 个 Agent 自我反思已能达到 98.8%，说明多视角对该任务帮助有限。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LLM 多智能体辩论  | 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36815" y="64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Microsoft YaHei"/>
              </a:rPr>
              <a:t>04  实验结果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03504"/>
            <a:ext cx="64008" cy="493776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85216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14723"/>
                </a:solidFill>
                <a:latin typeface="Microsoft YaHei"/>
              </a:rPr>
              <a:t>4.3c  MATH-hard：辩论中的纠错与从众</a:t>
            </a:r>
          </a:p>
        </p:txBody>
      </p:sp>
      <p:pic>
        <p:nvPicPr>
          <p:cNvPr id="7" name="Picture 6" descr="math_trans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44" y="658368"/>
            <a:ext cx="7754112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55321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554A"/>
                </a:solidFill>
                <a:latin typeface="Microsoft YaHei"/>
              </a:rPr>
              <a:t>图7  所有轮次累计的答案迁移次数。Debate: 错-&gt;对 8 次，对-&gt;错 1 次，净正向；Roles 和 AntiConf 类似。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98932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  MATH-hard 上辩论净效果为正（错-&gt;对 &gt;&gt; 对-&gt;错），说明在该难度下辩论确实有助于纠错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  Roles 异质角色和 AntiConf 防从众提示的纠错效果与原版 Debate 无显著差异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  全票一致后仍出错的情况几乎没有（0-1 题），说明 MATH 上 Agent 之间的一致性质量较高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LLM 多智能体辩论  | 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36815" y="64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Microsoft YaHei"/>
              </a:rPr>
              <a:t>04  实验结果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03504"/>
            <a:ext cx="64008" cy="493776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85216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14723"/>
                </a:solidFill>
                <a:latin typeface="Microsoft YaHei"/>
              </a:rPr>
              <a:t>4.4  MMLU：知识测试，辩论无法弥补知识盲区（100 题）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35024"/>
            <a:ext cx="1965960" cy="548640"/>
          </a:xfrm>
          <a:prstGeom prst="rect">
            <a:avLst/>
          </a:prstGeom>
          <a:solidFill>
            <a:srgbClr val="014723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39903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方法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335024"/>
            <a:ext cx="1143000" cy="548640"/>
          </a:xfrm>
          <a:prstGeom prst="rect">
            <a:avLst/>
          </a:prstGeom>
          <a:solidFill>
            <a:srgbClr val="014723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0864" y="1399032"/>
            <a:ext cx="1033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准确率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335024"/>
            <a:ext cx="1828800" cy="548640"/>
          </a:xfrm>
          <a:prstGeom prst="rect">
            <a:avLst/>
          </a:prstGeom>
          <a:solidFill>
            <a:srgbClr val="014723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1399032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token/题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83664"/>
            <a:ext cx="1965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194767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Single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1883664"/>
            <a:ext cx="1143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40864" y="1947672"/>
            <a:ext cx="1033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85.0%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1883664"/>
            <a:ext cx="1828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47672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162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432304"/>
            <a:ext cx="1965960" cy="548640"/>
          </a:xfrm>
          <a:prstGeom prst="rect">
            <a:avLst/>
          </a:prstGeom>
          <a:solidFill>
            <a:srgbClr val="E8F4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" y="249631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CoT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2432304"/>
            <a:ext cx="1143000" cy="548640"/>
          </a:xfrm>
          <a:prstGeom prst="rect">
            <a:avLst/>
          </a:prstGeom>
          <a:solidFill>
            <a:srgbClr val="E8F4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40864" y="2496312"/>
            <a:ext cx="1033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91.0%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2432304"/>
            <a:ext cx="1828800" cy="548640"/>
          </a:xfrm>
          <a:prstGeom prst="rect">
            <a:avLst/>
          </a:prstGeom>
          <a:solidFill>
            <a:srgbClr val="E8F4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9584" y="2496312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890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980944"/>
            <a:ext cx="1965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04495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SC@6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2980944"/>
            <a:ext cx="1143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40864" y="3044952"/>
            <a:ext cx="1033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93.0%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2980944"/>
            <a:ext cx="1828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9584" y="3044952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5 490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529584"/>
            <a:ext cx="1965960" cy="548640"/>
          </a:xfrm>
          <a:prstGeom prst="rect">
            <a:avLst/>
          </a:prstGeom>
          <a:solidFill>
            <a:srgbClr val="FFF0C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" y="359359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Microsoft YaHei"/>
              </a:rPr>
              <a:t>Debate 3x3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3529584"/>
            <a:ext cx="1143000" cy="548640"/>
          </a:xfrm>
          <a:prstGeom prst="rect">
            <a:avLst/>
          </a:prstGeom>
          <a:solidFill>
            <a:srgbClr val="FFF0C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40864" y="3593592"/>
            <a:ext cx="1033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Microsoft YaHei"/>
              </a:rPr>
              <a:t>91.0%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3529584"/>
            <a:ext cx="1828800" cy="548640"/>
          </a:xfrm>
          <a:prstGeom prst="rect">
            <a:avLst/>
          </a:prstGeom>
          <a:solidFill>
            <a:srgbClr val="FFF0C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29584" y="3593592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Microsoft YaHei"/>
              </a:rPr>
              <a:t>26 940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078224"/>
            <a:ext cx="1965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" y="414223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DynStop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4078224"/>
            <a:ext cx="1143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40864" y="4142232"/>
            <a:ext cx="1033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91.0%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0" y="4078224"/>
            <a:ext cx="1828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29584" y="4142232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4 114 *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626864"/>
            <a:ext cx="1965960" cy="548640"/>
          </a:xfrm>
          <a:prstGeom prst="rect">
            <a:avLst/>
          </a:prstGeom>
          <a:solidFill>
            <a:srgbClr val="E8F4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" y="469087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Roles 3x3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0" y="4626864"/>
            <a:ext cx="1143000" cy="548640"/>
          </a:xfrm>
          <a:prstGeom prst="rect">
            <a:avLst/>
          </a:prstGeom>
          <a:solidFill>
            <a:srgbClr val="E8F4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40864" y="4690872"/>
            <a:ext cx="1033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92.0%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0" y="4626864"/>
            <a:ext cx="1828800" cy="548640"/>
          </a:xfrm>
          <a:prstGeom prst="rect">
            <a:avLst/>
          </a:prstGeom>
          <a:solidFill>
            <a:srgbClr val="E8F4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29584" y="4690872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Microsoft YaHei"/>
              </a:rPr>
              <a:t>32 994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5120640"/>
            <a:ext cx="5577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  <a:latin typeface="Microsoft YaHei"/>
              </a:rPr>
              <a:t>  Debate (91%) 略低于 SC@6 (93%)，不显著 (p=0.6)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  <a:latin typeface="Microsoft YaHei"/>
              </a:rPr>
              <a:t>  7 道题全票一致但仍全错（知识盲区）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  <a:latin typeface="Microsoft YaHei"/>
              </a:rPr>
              <a:t>  讨论无法凭空产生模型没有的知识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  <a:latin typeface="Microsoft YaHei"/>
              </a:rPr>
              <a:t>  Single 截断率 60%（仅因直答格式，不影响精度）</a:t>
            </a:r>
          </a:p>
        </p:txBody>
      </p:sp>
      <p:pic>
        <p:nvPicPr>
          <p:cNvPr id="50" name="Picture 49" descr="mmlu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621792"/>
            <a:ext cx="6126480" cy="382905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897880" y="5669280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554A"/>
                </a:solidFill>
                <a:latin typeface="Microsoft YaHei"/>
              </a:rPr>
              <a:t>图8  MMLU 准确率 vs 成本。Debate 高成本但精度反而略低于 SC@6，知识类任务辩论性价比不如 Self-Consistency。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LLM 多智能体辩论  | 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36815" y="64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Microsoft YaHei"/>
              </a:rPr>
              <a:t>04  实验结果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03504"/>
            <a:ext cx="64008" cy="493776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85216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14723"/>
                </a:solidFill>
                <a:latin typeface="Microsoft YaHei"/>
              </a:rPr>
              <a:t>4.4b  MMLU：辩论轮数 &amp; 纠错/从众分析</a:t>
            </a:r>
          </a:p>
        </p:txBody>
      </p:sp>
      <p:pic>
        <p:nvPicPr>
          <p:cNvPr id="7" name="Picture 6" descr="mmlu_ro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58368"/>
            <a:ext cx="5943600" cy="396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553212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554A"/>
                </a:solidFill>
                <a:latin typeface="Microsoft YaHei"/>
              </a:rPr>
              <a:t>图9  MMLU 准确率随轮数变化。各版本与 CoT/SC 基线持平，无随轮次提升，与 MATH 截然不同。</a:t>
            </a:r>
          </a:p>
        </p:txBody>
      </p:sp>
      <p:pic>
        <p:nvPicPr>
          <p:cNvPr id="9" name="Picture 8" descr="mmlu_transi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658368"/>
            <a:ext cx="5669280" cy="3543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553212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554A"/>
                </a:solidFill>
                <a:latin typeface="Microsoft YaHei"/>
              </a:rPr>
              <a:t>图10  MMLU 答案迁移。错-&gt;对 ≈ 对-&gt;错（各约 9:7），净收益近零。7 题全票一致但全错（知识盲区）。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5897880"/>
            <a:ext cx="11795760" cy="274320"/>
          </a:xfrm>
          <a:prstGeom prst="rect">
            <a:avLst/>
          </a:prstGeom>
          <a:solidFill>
            <a:srgbClr val="E8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5934456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4A"/>
                </a:solidFill>
                <a:latin typeface="Microsoft YaHei"/>
              </a:rPr>
              <a:t>防从众提示（AntiConf）对-&gt;错仍有 6 次，与原版 Debate 相当——根源是知识不确定性，而非从众意愿，提示工程无法弥补。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27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E0C4"/>
                </a:solidFill>
                <a:latin typeface="Microsoft YaHei"/>
              </a:rPr>
              <a:t>Part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YaHei"/>
              </a:rPr>
              <a:t>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E0C4"/>
                </a:solidFill>
                <a:latin typeface="Microsoft YaHei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LLM 多智能体辩论  | 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36815" y="64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Microsoft YaHei"/>
              </a:rPr>
              <a:t>05  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03504"/>
            <a:ext cx="64008" cy="493776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85216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14723"/>
                </a:solidFill>
                <a:latin typeface="Microsoft YaHei"/>
              </a:rPr>
              <a:t>5.1  四条主要结论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623560" cy="329184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62456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结论 1：能力边界决定上限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55064"/>
            <a:ext cx="5623560" cy="1682496"/>
          </a:xfrm>
          <a:prstGeom prst="rect">
            <a:avLst/>
          </a:prstGeom>
          <a:solidFill>
            <a:srgbClr val="E8F4EC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728216"/>
            <a:ext cx="5404104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在 Qwen3.8 已接近任务天花板时（CoT 93-99%），辩论不带来统计显著提升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所有数据集的辩论 vs CoT/SC 对比均 p &gt;= 0.5，无显著差异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辩论有效性的前提：任务对多视角推理敏感且模型有提升空间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7" y="1325880"/>
            <a:ext cx="5623560" cy="329184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7" y="1362456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结论 2：截断偏差是核心陷阱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7" y="1655064"/>
            <a:ext cx="5623560" cy="1682496"/>
          </a:xfrm>
          <a:prstGeom prst="rect">
            <a:avLst/>
          </a:prstGeom>
          <a:solidFill>
            <a:srgbClr val="E8F4EC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5" y="1728216"/>
            <a:ext cx="5404104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2048 token 限制使 MATH 上辩论看似领先 CoT 达 +19 pp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消除截断后差距归零——这是低 token 预算下辩论的系统性偏差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建议：方法对比研究中应统一并验证输出长度上限的影响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520439"/>
            <a:ext cx="5623560" cy="329184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557015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结论 3：DynStop 是最佳改进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849623"/>
            <a:ext cx="5623560" cy="1682496"/>
          </a:xfrm>
          <a:prstGeom prst="rect">
            <a:avLst/>
          </a:prstGeom>
          <a:solidFill>
            <a:srgbClr val="E8F4EC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922775"/>
            <a:ext cx="5404104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全员一致即提前终止，节省 82-88% token，精度不变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原因：97-100% 的题在第 1 轮就已全员一致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以 SC@3 相当的成本，匹配完整 3 轮辩论的精度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7" y="3520439"/>
            <a:ext cx="5623560" cy="329184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7" y="3557015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结论 4：知识类任务的根本局限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7" y="3849623"/>
            <a:ext cx="5623560" cy="1682496"/>
          </a:xfrm>
          <a:prstGeom prst="rect">
            <a:avLst/>
          </a:prstGeom>
          <a:solidFill>
            <a:srgbClr val="E8F4EC"/>
          </a:solidFill>
          <a:ln w="6350">
            <a:solidFill>
              <a:srgbClr val="027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5" y="3922775"/>
            <a:ext cx="5404104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裁判、角色分工、置信度投票、防从众提示均无显著效果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MMLU 上 7 题全票错误：Agent 之间知识盲区高度重叠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讨论不能创造模型没有的知识；多样化模型才是根本出路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LLM 多智能体辩论  | 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36815" y="64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Microsoft YaHei"/>
              </a:rPr>
              <a:t>05  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03504"/>
            <a:ext cx="64008" cy="493776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85216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14723"/>
                </a:solidFill>
                <a:latin typeface="Microsoft YaHei"/>
              </a:rPr>
              <a:t>5.2  局限与未来方向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167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14723"/>
                </a:solidFill>
                <a:latin typeface="Microsoft YaHei"/>
              </a:rPr>
              <a:t>局限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82496"/>
            <a:ext cx="11612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•  模型能力过强：Qwen3.8 在所选数据集上接近饱和，缺乏辩论发挥的空间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•  Agent 同质：三个 Agent 是同一模型的独立采样，知识层面高度重叠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•  成本膨胀：Debate 3x3 的 74% token 消耗是 prompt（他人历史回答），而非生成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•  AIME 数据不足：测试集因服务器限制未能全部完成，无法作为难题证据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337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14723"/>
                </a:solidFill>
                <a:latin typeface="Microsoft YaHei"/>
              </a:rPr>
              <a:t>未来方向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703320"/>
            <a:ext cx="11612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•  在弱模型或更难任务上验证（竞赛级数学、专业医学/法律问答）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•  引入真正异质的 Agent（不同模型、不同参数），打破知识同质性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•  摘要压缩机制：将他人历史回答压缩为摘要，降低后续轮次的 prompt 膨胀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•  自适应轮次：根据当前分歧程度动态决定是否继续辩论，融合 DynStop 思路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LLM 多智能体辩论  | 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36815" y="64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Microsoft YaHei"/>
              </a:rPr>
              <a:t>05  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03504"/>
            <a:ext cx="64008" cy="493776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85216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14723"/>
                </a:solidFill>
                <a:latin typeface="Microsoft YaHei"/>
              </a:rPr>
              <a:t>5.3  小组分工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16736"/>
            <a:ext cx="594360" cy="59436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16736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33502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4723"/>
                </a:solidFill>
                <a:latin typeface="Microsoft YaHei"/>
              </a:rPr>
              <a:t>环境 &amp; 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353312"/>
            <a:ext cx="8503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4A"/>
                </a:solidFill>
                <a:latin typeface="Microsoft YaHei"/>
              </a:rPr>
              <a:t>Qwen API 对接（绕过本机代理 7890，流式输出、超时重试）· chat() 封装 · 数据准备（GSM8K / MATH / MMLU）与答案解析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75104"/>
            <a:ext cx="11612880" cy="13716"/>
          </a:xfrm>
          <a:prstGeom prst="rect">
            <a:avLst/>
          </a:prstGeom>
          <a:solidFill>
            <a:srgbClr val="CC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249424"/>
            <a:ext cx="594360" cy="59436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249424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26771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4723"/>
                </a:solidFill>
                <a:latin typeface="Microsoft YaHei"/>
              </a:rPr>
              <a:t>基线 &amp; 原版辩论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286000"/>
            <a:ext cx="8503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4A"/>
                </a:solidFill>
                <a:latin typeface="Microsoft YaHei"/>
              </a:rPr>
              <a:t>single / cot / sc / debate 方法实现 · 截断偏差发现与 v1-&gt;v2 修复工具（repair.py，续写截断处而非重跑）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907792"/>
            <a:ext cx="11612880" cy="13716"/>
          </a:xfrm>
          <a:prstGeom prst="rect">
            <a:avLst/>
          </a:prstGeom>
          <a:solidFill>
            <a:srgbClr val="CC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182112"/>
            <a:ext cx="594360" cy="59436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18211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20040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4723"/>
                </a:solidFill>
                <a:latin typeface="Microsoft YaHei"/>
              </a:rPr>
              <a:t>改进方法实现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218688"/>
            <a:ext cx="8503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4A"/>
                </a:solidFill>
                <a:latin typeface="Microsoft YaHei"/>
              </a:rPr>
              <a:t>roles / anticonf / judge / 置信度投票 · add_judge.py（完整版裁判，实验性） · 防从众提示工程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840480"/>
            <a:ext cx="11612880" cy="13716"/>
          </a:xfrm>
          <a:prstGeom prst="rect">
            <a:avLst/>
          </a:prstGeom>
          <a:solidFill>
            <a:srgbClr val="CC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114800"/>
            <a:ext cx="594360" cy="59436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1148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13308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4723"/>
                </a:solidFill>
                <a:latin typeface="Microsoft YaHei"/>
              </a:rPr>
              <a:t>实验 &amp; 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151376"/>
            <a:ext cx="8503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4A"/>
                </a:solidFill>
                <a:latin typeface="Microsoft YaHei"/>
              </a:rPr>
              <a:t>并发跑全套实验（16 workers）· McNemar 检验 · 动态终止分析 · agent 消融 · 从众分析 · 图表生成（analyze.py）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773168"/>
            <a:ext cx="11612880" cy="13716"/>
          </a:xfrm>
          <a:prstGeom prst="rect">
            <a:avLst/>
          </a:prstGeom>
          <a:solidFill>
            <a:srgbClr val="CC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5047488"/>
            <a:ext cx="594360" cy="59436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504748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06577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4723"/>
                </a:solidFill>
                <a:latin typeface="Microsoft YaHei"/>
              </a:rPr>
              <a:t>报告 &amp; 展示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5084064"/>
            <a:ext cx="8503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4A"/>
                </a:solidFill>
                <a:latin typeface="Microsoft YaHei"/>
              </a:rPr>
              <a:t>报告撰写 · 架构图 · 统稿 · PPT 制作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705856"/>
            <a:ext cx="11612880" cy="13716"/>
          </a:xfrm>
          <a:prstGeom prst="rect">
            <a:avLst/>
          </a:prstGeom>
          <a:solidFill>
            <a:srgbClr val="CC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27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Microsoft YaHei"/>
              </a:rPr>
              <a:t>感谢聆听！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B8E0C4"/>
                </a:solidFill>
                <a:latin typeface="Microsoft YaHei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E0C4"/>
                </a:solidFill>
                <a:latin typeface="Microsoft YaHei"/>
              </a:rPr>
              <a:t>Du et al. (2023). Improving Factuality and Reasoning in LLMs through Multiagent Debate. arXiv:2305.14325.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E0C4"/>
                </a:solidFill>
                <a:latin typeface="Microsoft YaHei"/>
              </a:rPr>
              <a:t>Wei et al. (2022). Chain-of-Thought Prompting Elicits Reasoning in LLMs. arXiv:2201.11903.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E0C4"/>
                </a:solidFill>
                <a:latin typeface="Microsoft YaHei"/>
              </a:rPr>
              <a:t>Wang et al. (2022). Self-Consistency Improves Chain of Thought Reasoning. arXiv:2203.11171.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E0C4"/>
                </a:solidFill>
                <a:latin typeface="Microsoft YaHei"/>
              </a:rPr>
              <a:t>Liang et al. (2023). Encouraging Divergent Thinking via Multi-Agent Debate. arXiv:2305.19118.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77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E0C4"/>
                </a:solidFill>
                <a:latin typeface="Microsoft YaHei"/>
              </a:rPr>
              <a:t>Chan et al. (2023). ChatEval: Better LLM-based Evaluators through Multi-Agent Debate. arXiv:2308.07201.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4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94415" y="65836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icrosoft YaHei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